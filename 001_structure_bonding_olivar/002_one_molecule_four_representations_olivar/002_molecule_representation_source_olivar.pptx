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5486400" cy="3835400"/>
  <p:notesSz cx="6858000" cy="9144000"/>
  <p:embeddedFontLst>
    <p:embeddedFont>
      <p:font typeface="Sniglet" charset="1" panose="04070505030100020000"/>
      <p:regular r:id="rId16"/>
    </p:embeddedFont>
    <p:embeddedFont>
      <p:font typeface="Dreaming Outloud Sans" charset="1" panose="00000500000000000000"/>
      <p:regular r:id="rId17"/>
    </p:embeddedFont>
    <p:embeddedFont>
      <p:font typeface="Happy Font TH" charset="1" panose="02000503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2371585" cy="1215692"/>
            <a:chOff x="0" y="0"/>
            <a:chExt cx="1800344" cy="922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00344" cy="922869"/>
            </a:xfrm>
            <a:custGeom>
              <a:avLst/>
              <a:gdLst/>
              <a:ahLst/>
              <a:cxnLst/>
              <a:rect r="r" b="b" t="t" l="l"/>
              <a:pathLst>
                <a:path h="922869" w="1800344">
                  <a:moveTo>
                    <a:pt x="26116" y="0"/>
                  </a:moveTo>
                  <a:lnTo>
                    <a:pt x="1774228" y="0"/>
                  </a:lnTo>
                  <a:cubicBezTo>
                    <a:pt x="1781154" y="0"/>
                    <a:pt x="1787797" y="2751"/>
                    <a:pt x="1792695" y="7649"/>
                  </a:cubicBezTo>
                  <a:cubicBezTo>
                    <a:pt x="1797592" y="12547"/>
                    <a:pt x="1800344" y="19189"/>
                    <a:pt x="1800344" y="26116"/>
                  </a:cubicBezTo>
                  <a:lnTo>
                    <a:pt x="1800344" y="896753"/>
                  </a:lnTo>
                  <a:cubicBezTo>
                    <a:pt x="1800344" y="911177"/>
                    <a:pt x="1788651" y="922869"/>
                    <a:pt x="1774228" y="922869"/>
                  </a:cubicBezTo>
                  <a:lnTo>
                    <a:pt x="26116" y="922869"/>
                  </a:lnTo>
                  <a:cubicBezTo>
                    <a:pt x="11692" y="922869"/>
                    <a:pt x="0" y="911177"/>
                    <a:pt x="0" y="896753"/>
                  </a:cubicBezTo>
                  <a:lnTo>
                    <a:pt x="0" y="26116"/>
                  </a:lnTo>
                  <a:cubicBezTo>
                    <a:pt x="0" y="11692"/>
                    <a:pt x="11692" y="0"/>
                    <a:pt x="26116" y="0"/>
                  </a:cubicBezTo>
                  <a:close/>
                </a:path>
              </a:pathLst>
            </a:custGeom>
            <a:solidFill>
              <a:srgbClr val="F9CBD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800344" cy="93239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3346" y="1072204"/>
            <a:ext cx="2371585" cy="674613"/>
            <a:chOff x="0" y="0"/>
            <a:chExt cx="1800344" cy="5121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00344" cy="512119"/>
            </a:xfrm>
            <a:custGeom>
              <a:avLst/>
              <a:gdLst/>
              <a:ahLst/>
              <a:cxnLst/>
              <a:rect r="r" b="b" t="t" l="l"/>
              <a:pathLst>
                <a:path h="512119" w="1800344">
                  <a:moveTo>
                    <a:pt x="0" y="0"/>
                  </a:moveTo>
                  <a:lnTo>
                    <a:pt x="1800344" y="0"/>
                  </a:lnTo>
                  <a:lnTo>
                    <a:pt x="1800344" y="512119"/>
                  </a:lnTo>
                  <a:lnTo>
                    <a:pt x="0" y="512119"/>
                  </a:lnTo>
                  <a:close/>
                </a:path>
              </a:pathLst>
            </a:custGeom>
            <a:solidFill>
              <a:srgbClr val="F9EEE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800344" cy="52164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03346" y="1409510"/>
            <a:ext cx="2371585" cy="674613"/>
            <a:chOff x="0" y="0"/>
            <a:chExt cx="1800344" cy="5121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00344" cy="512119"/>
            </a:xfrm>
            <a:custGeom>
              <a:avLst/>
              <a:gdLst/>
              <a:ahLst/>
              <a:cxnLst/>
              <a:rect r="r" b="b" t="t" l="l"/>
              <a:pathLst>
                <a:path h="512119" w="1800344">
                  <a:moveTo>
                    <a:pt x="26116" y="0"/>
                  </a:moveTo>
                  <a:lnTo>
                    <a:pt x="1774228" y="0"/>
                  </a:lnTo>
                  <a:cubicBezTo>
                    <a:pt x="1781154" y="0"/>
                    <a:pt x="1787797" y="2751"/>
                    <a:pt x="1792695" y="7649"/>
                  </a:cubicBezTo>
                  <a:cubicBezTo>
                    <a:pt x="1797592" y="12547"/>
                    <a:pt x="1800344" y="19189"/>
                    <a:pt x="1800344" y="26116"/>
                  </a:cubicBezTo>
                  <a:lnTo>
                    <a:pt x="1800344" y="486004"/>
                  </a:lnTo>
                  <a:cubicBezTo>
                    <a:pt x="1800344" y="500427"/>
                    <a:pt x="1788651" y="512119"/>
                    <a:pt x="1774228" y="512119"/>
                  </a:cubicBezTo>
                  <a:lnTo>
                    <a:pt x="26116" y="512119"/>
                  </a:lnTo>
                  <a:cubicBezTo>
                    <a:pt x="19189" y="512119"/>
                    <a:pt x="12547" y="509368"/>
                    <a:pt x="7649" y="504470"/>
                  </a:cubicBezTo>
                  <a:cubicBezTo>
                    <a:pt x="2751" y="499573"/>
                    <a:pt x="0" y="492930"/>
                    <a:pt x="0" y="486004"/>
                  </a:cubicBezTo>
                  <a:lnTo>
                    <a:pt x="0" y="26116"/>
                  </a:lnTo>
                  <a:cubicBezTo>
                    <a:pt x="0" y="11692"/>
                    <a:pt x="11692" y="0"/>
                    <a:pt x="26116" y="0"/>
                  </a:cubicBezTo>
                  <a:close/>
                </a:path>
              </a:pathLst>
            </a:custGeom>
            <a:solidFill>
              <a:srgbClr val="F9EEE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800344" cy="52164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03346" y="2239016"/>
            <a:ext cx="2371585" cy="1215692"/>
            <a:chOff x="0" y="0"/>
            <a:chExt cx="1800344" cy="9228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00344" cy="922869"/>
            </a:xfrm>
            <a:custGeom>
              <a:avLst/>
              <a:gdLst/>
              <a:ahLst/>
              <a:cxnLst/>
              <a:rect r="r" b="b" t="t" l="l"/>
              <a:pathLst>
                <a:path h="922869" w="1800344">
                  <a:moveTo>
                    <a:pt x="26116" y="0"/>
                  </a:moveTo>
                  <a:lnTo>
                    <a:pt x="1774228" y="0"/>
                  </a:lnTo>
                  <a:cubicBezTo>
                    <a:pt x="1781154" y="0"/>
                    <a:pt x="1787797" y="2751"/>
                    <a:pt x="1792695" y="7649"/>
                  </a:cubicBezTo>
                  <a:cubicBezTo>
                    <a:pt x="1797592" y="12547"/>
                    <a:pt x="1800344" y="19189"/>
                    <a:pt x="1800344" y="26116"/>
                  </a:cubicBezTo>
                  <a:lnTo>
                    <a:pt x="1800344" y="896753"/>
                  </a:lnTo>
                  <a:cubicBezTo>
                    <a:pt x="1800344" y="911177"/>
                    <a:pt x="1788651" y="922869"/>
                    <a:pt x="1774228" y="922869"/>
                  </a:cubicBezTo>
                  <a:lnTo>
                    <a:pt x="26116" y="922869"/>
                  </a:lnTo>
                  <a:cubicBezTo>
                    <a:pt x="11692" y="922869"/>
                    <a:pt x="0" y="911177"/>
                    <a:pt x="0" y="896753"/>
                  </a:cubicBezTo>
                  <a:lnTo>
                    <a:pt x="0" y="26116"/>
                  </a:lnTo>
                  <a:cubicBezTo>
                    <a:pt x="0" y="11692"/>
                    <a:pt x="11692" y="0"/>
                    <a:pt x="26116" y="0"/>
                  </a:cubicBezTo>
                  <a:close/>
                </a:path>
              </a:pathLst>
            </a:custGeom>
            <a:solidFill>
              <a:srgbClr val="F9CBD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800344" cy="93239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03346" y="2444513"/>
            <a:ext cx="2371585" cy="674613"/>
            <a:chOff x="0" y="0"/>
            <a:chExt cx="1800344" cy="5121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00344" cy="512119"/>
            </a:xfrm>
            <a:custGeom>
              <a:avLst/>
              <a:gdLst/>
              <a:ahLst/>
              <a:cxnLst/>
              <a:rect r="r" b="b" t="t" l="l"/>
              <a:pathLst>
                <a:path h="512119" w="1800344">
                  <a:moveTo>
                    <a:pt x="0" y="0"/>
                  </a:moveTo>
                  <a:lnTo>
                    <a:pt x="1800344" y="0"/>
                  </a:lnTo>
                  <a:lnTo>
                    <a:pt x="1800344" y="512119"/>
                  </a:lnTo>
                  <a:lnTo>
                    <a:pt x="0" y="512119"/>
                  </a:lnTo>
                  <a:close/>
                </a:path>
              </a:pathLst>
            </a:custGeom>
            <a:solidFill>
              <a:srgbClr val="F9EEE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800344" cy="52164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03346" y="2781819"/>
            <a:ext cx="2371585" cy="674613"/>
            <a:chOff x="0" y="0"/>
            <a:chExt cx="1800344" cy="5121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00344" cy="512119"/>
            </a:xfrm>
            <a:custGeom>
              <a:avLst/>
              <a:gdLst/>
              <a:ahLst/>
              <a:cxnLst/>
              <a:rect r="r" b="b" t="t" l="l"/>
              <a:pathLst>
                <a:path h="512119" w="1800344">
                  <a:moveTo>
                    <a:pt x="26116" y="0"/>
                  </a:moveTo>
                  <a:lnTo>
                    <a:pt x="1774228" y="0"/>
                  </a:lnTo>
                  <a:cubicBezTo>
                    <a:pt x="1781154" y="0"/>
                    <a:pt x="1787797" y="2751"/>
                    <a:pt x="1792695" y="7649"/>
                  </a:cubicBezTo>
                  <a:cubicBezTo>
                    <a:pt x="1797592" y="12547"/>
                    <a:pt x="1800344" y="19189"/>
                    <a:pt x="1800344" y="26116"/>
                  </a:cubicBezTo>
                  <a:lnTo>
                    <a:pt x="1800344" y="486004"/>
                  </a:lnTo>
                  <a:cubicBezTo>
                    <a:pt x="1800344" y="500427"/>
                    <a:pt x="1788651" y="512119"/>
                    <a:pt x="1774228" y="512119"/>
                  </a:cubicBezTo>
                  <a:lnTo>
                    <a:pt x="26116" y="512119"/>
                  </a:lnTo>
                  <a:cubicBezTo>
                    <a:pt x="19189" y="512119"/>
                    <a:pt x="12547" y="509368"/>
                    <a:pt x="7649" y="504470"/>
                  </a:cubicBezTo>
                  <a:cubicBezTo>
                    <a:pt x="2751" y="499573"/>
                    <a:pt x="0" y="492930"/>
                    <a:pt x="0" y="486004"/>
                  </a:cubicBezTo>
                  <a:lnTo>
                    <a:pt x="0" y="26116"/>
                  </a:lnTo>
                  <a:cubicBezTo>
                    <a:pt x="0" y="11692"/>
                    <a:pt x="11692" y="0"/>
                    <a:pt x="26116" y="0"/>
                  </a:cubicBezTo>
                  <a:close/>
                </a:path>
              </a:pathLst>
            </a:custGeom>
            <a:solidFill>
              <a:srgbClr val="F9EEE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800344" cy="52164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811469" y="2239016"/>
            <a:ext cx="2371585" cy="1215692"/>
            <a:chOff x="0" y="0"/>
            <a:chExt cx="1800344" cy="9228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0344" cy="922869"/>
            </a:xfrm>
            <a:custGeom>
              <a:avLst/>
              <a:gdLst/>
              <a:ahLst/>
              <a:cxnLst/>
              <a:rect r="r" b="b" t="t" l="l"/>
              <a:pathLst>
                <a:path h="922869" w="1800344">
                  <a:moveTo>
                    <a:pt x="26116" y="0"/>
                  </a:moveTo>
                  <a:lnTo>
                    <a:pt x="1774228" y="0"/>
                  </a:lnTo>
                  <a:cubicBezTo>
                    <a:pt x="1781154" y="0"/>
                    <a:pt x="1787797" y="2751"/>
                    <a:pt x="1792695" y="7649"/>
                  </a:cubicBezTo>
                  <a:cubicBezTo>
                    <a:pt x="1797592" y="12547"/>
                    <a:pt x="1800344" y="19189"/>
                    <a:pt x="1800344" y="26116"/>
                  </a:cubicBezTo>
                  <a:lnTo>
                    <a:pt x="1800344" y="896753"/>
                  </a:lnTo>
                  <a:cubicBezTo>
                    <a:pt x="1800344" y="911177"/>
                    <a:pt x="1788651" y="922869"/>
                    <a:pt x="1774228" y="922869"/>
                  </a:cubicBezTo>
                  <a:lnTo>
                    <a:pt x="26116" y="922869"/>
                  </a:lnTo>
                  <a:cubicBezTo>
                    <a:pt x="11692" y="922869"/>
                    <a:pt x="0" y="911177"/>
                    <a:pt x="0" y="896753"/>
                  </a:cubicBezTo>
                  <a:lnTo>
                    <a:pt x="0" y="26116"/>
                  </a:lnTo>
                  <a:cubicBezTo>
                    <a:pt x="0" y="11692"/>
                    <a:pt x="11692" y="0"/>
                    <a:pt x="26116" y="0"/>
                  </a:cubicBezTo>
                  <a:close/>
                </a:path>
              </a:pathLst>
            </a:custGeom>
            <a:solidFill>
              <a:srgbClr val="F9CBD1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800344" cy="93239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811469" y="2444513"/>
            <a:ext cx="2371585" cy="674613"/>
            <a:chOff x="0" y="0"/>
            <a:chExt cx="1800344" cy="5121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00344" cy="512119"/>
            </a:xfrm>
            <a:custGeom>
              <a:avLst/>
              <a:gdLst/>
              <a:ahLst/>
              <a:cxnLst/>
              <a:rect r="r" b="b" t="t" l="l"/>
              <a:pathLst>
                <a:path h="512119" w="1800344">
                  <a:moveTo>
                    <a:pt x="0" y="0"/>
                  </a:moveTo>
                  <a:lnTo>
                    <a:pt x="1800344" y="0"/>
                  </a:lnTo>
                  <a:lnTo>
                    <a:pt x="1800344" y="512119"/>
                  </a:lnTo>
                  <a:lnTo>
                    <a:pt x="0" y="512119"/>
                  </a:lnTo>
                  <a:close/>
                </a:path>
              </a:pathLst>
            </a:custGeom>
            <a:solidFill>
              <a:srgbClr val="F9EEE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800344" cy="52164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811469" y="2781819"/>
            <a:ext cx="2371585" cy="674613"/>
            <a:chOff x="0" y="0"/>
            <a:chExt cx="1800344" cy="5121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00344" cy="512119"/>
            </a:xfrm>
            <a:custGeom>
              <a:avLst/>
              <a:gdLst/>
              <a:ahLst/>
              <a:cxnLst/>
              <a:rect r="r" b="b" t="t" l="l"/>
              <a:pathLst>
                <a:path h="512119" w="1800344">
                  <a:moveTo>
                    <a:pt x="26116" y="0"/>
                  </a:moveTo>
                  <a:lnTo>
                    <a:pt x="1774228" y="0"/>
                  </a:lnTo>
                  <a:cubicBezTo>
                    <a:pt x="1781154" y="0"/>
                    <a:pt x="1787797" y="2751"/>
                    <a:pt x="1792695" y="7649"/>
                  </a:cubicBezTo>
                  <a:cubicBezTo>
                    <a:pt x="1797592" y="12547"/>
                    <a:pt x="1800344" y="19189"/>
                    <a:pt x="1800344" y="26116"/>
                  </a:cubicBezTo>
                  <a:lnTo>
                    <a:pt x="1800344" y="486004"/>
                  </a:lnTo>
                  <a:cubicBezTo>
                    <a:pt x="1800344" y="500427"/>
                    <a:pt x="1788651" y="512119"/>
                    <a:pt x="1774228" y="512119"/>
                  </a:cubicBezTo>
                  <a:lnTo>
                    <a:pt x="26116" y="512119"/>
                  </a:lnTo>
                  <a:cubicBezTo>
                    <a:pt x="19189" y="512119"/>
                    <a:pt x="12547" y="509368"/>
                    <a:pt x="7649" y="504470"/>
                  </a:cubicBezTo>
                  <a:cubicBezTo>
                    <a:pt x="2751" y="499573"/>
                    <a:pt x="0" y="492930"/>
                    <a:pt x="0" y="486004"/>
                  </a:cubicBezTo>
                  <a:lnTo>
                    <a:pt x="0" y="26116"/>
                  </a:lnTo>
                  <a:cubicBezTo>
                    <a:pt x="0" y="11692"/>
                    <a:pt x="11692" y="0"/>
                    <a:pt x="26116" y="0"/>
                  </a:cubicBezTo>
                  <a:close/>
                </a:path>
              </a:pathLst>
            </a:custGeom>
            <a:solidFill>
              <a:srgbClr val="F9EEE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800344" cy="52164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811469" y="866707"/>
            <a:ext cx="2371585" cy="1215692"/>
            <a:chOff x="0" y="0"/>
            <a:chExt cx="1800344" cy="92286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00344" cy="922869"/>
            </a:xfrm>
            <a:custGeom>
              <a:avLst/>
              <a:gdLst/>
              <a:ahLst/>
              <a:cxnLst/>
              <a:rect r="r" b="b" t="t" l="l"/>
              <a:pathLst>
                <a:path h="922869" w="1800344">
                  <a:moveTo>
                    <a:pt x="26116" y="0"/>
                  </a:moveTo>
                  <a:lnTo>
                    <a:pt x="1774228" y="0"/>
                  </a:lnTo>
                  <a:cubicBezTo>
                    <a:pt x="1781154" y="0"/>
                    <a:pt x="1787797" y="2751"/>
                    <a:pt x="1792695" y="7649"/>
                  </a:cubicBezTo>
                  <a:cubicBezTo>
                    <a:pt x="1797592" y="12547"/>
                    <a:pt x="1800344" y="19189"/>
                    <a:pt x="1800344" y="26116"/>
                  </a:cubicBezTo>
                  <a:lnTo>
                    <a:pt x="1800344" y="896753"/>
                  </a:lnTo>
                  <a:cubicBezTo>
                    <a:pt x="1800344" y="911177"/>
                    <a:pt x="1788651" y="922869"/>
                    <a:pt x="1774228" y="922869"/>
                  </a:cubicBezTo>
                  <a:lnTo>
                    <a:pt x="26116" y="922869"/>
                  </a:lnTo>
                  <a:cubicBezTo>
                    <a:pt x="11692" y="922869"/>
                    <a:pt x="0" y="911177"/>
                    <a:pt x="0" y="896753"/>
                  </a:cubicBezTo>
                  <a:lnTo>
                    <a:pt x="0" y="26116"/>
                  </a:lnTo>
                  <a:cubicBezTo>
                    <a:pt x="0" y="11692"/>
                    <a:pt x="11692" y="0"/>
                    <a:pt x="26116" y="0"/>
                  </a:cubicBezTo>
                  <a:close/>
                </a:path>
              </a:pathLst>
            </a:custGeom>
            <a:solidFill>
              <a:srgbClr val="F9CBD1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800344" cy="93239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11469" y="1072204"/>
            <a:ext cx="2371585" cy="674613"/>
            <a:chOff x="0" y="0"/>
            <a:chExt cx="1800344" cy="5121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00344" cy="512119"/>
            </a:xfrm>
            <a:custGeom>
              <a:avLst/>
              <a:gdLst/>
              <a:ahLst/>
              <a:cxnLst/>
              <a:rect r="r" b="b" t="t" l="l"/>
              <a:pathLst>
                <a:path h="512119" w="1800344">
                  <a:moveTo>
                    <a:pt x="0" y="0"/>
                  </a:moveTo>
                  <a:lnTo>
                    <a:pt x="1800344" y="0"/>
                  </a:lnTo>
                  <a:lnTo>
                    <a:pt x="1800344" y="512119"/>
                  </a:lnTo>
                  <a:lnTo>
                    <a:pt x="0" y="512119"/>
                  </a:lnTo>
                  <a:close/>
                </a:path>
              </a:pathLst>
            </a:custGeom>
            <a:solidFill>
              <a:srgbClr val="F9EEE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800344" cy="52164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811469" y="1409510"/>
            <a:ext cx="2371585" cy="674613"/>
            <a:chOff x="0" y="0"/>
            <a:chExt cx="1800344" cy="5121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00344" cy="512119"/>
            </a:xfrm>
            <a:custGeom>
              <a:avLst/>
              <a:gdLst/>
              <a:ahLst/>
              <a:cxnLst/>
              <a:rect r="r" b="b" t="t" l="l"/>
              <a:pathLst>
                <a:path h="512119" w="1800344">
                  <a:moveTo>
                    <a:pt x="26116" y="0"/>
                  </a:moveTo>
                  <a:lnTo>
                    <a:pt x="1774228" y="0"/>
                  </a:lnTo>
                  <a:cubicBezTo>
                    <a:pt x="1781154" y="0"/>
                    <a:pt x="1787797" y="2751"/>
                    <a:pt x="1792695" y="7649"/>
                  </a:cubicBezTo>
                  <a:cubicBezTo>
                    <a:pt x="1797592" y="12547"/>
                    <a:pt x="1800344" y="19189"/>
                    <a:pt x="1800344" y="26116"/>
                  </a:cubicBezTo>
                  <a:lnTo>
                    <a:pt x="1800344" y="486004"/>
                  </a:lnTo>
                  <a:cubicBezTo>
                    <a:pt x="1800344" y="500427"/>
                    <a:pt x="1788651" y="512119"/>
                    <a:pt x="1774228" y="512119"/>
                  </a:cubicBezTo>
                  <a:lnTo>
                    <a:pt x="26116" y="512119"/>
                  </a:lnTo>
                  <a:cubicBezTo>
                    <a:pt x="19189" y="512119"/>
                    <a:pt x="12547" y="509368"/>
                    <a:pt x="7649" y="504470"/>
                  </a:cubicBezTo>
                  <a:cubicBezTo>
                    <a:pt x="2751" y="499573"/>
                    <a:pt x="0" y="492930"/>
                    <a:pt x="0" y="486004"/>
                  </a:cubicBezTo>
                  <a:lnTo>
                    <a:pt x="0" y="26116"/>
                  </a:lnTo>
                  <a:cubicBezTo>
                    <a:pt x="0" y="11692"/>
                    <a:pt x="11692" y="0"/>
                    <a:pt x="26116" y="0"/>
                  </a:cubicBezTo>
                  <a:close/>
                </a:path>
              </a:pathLst>
            </a:custGeom>
            <a:solidFill>
              <a:srgbClr val="F9EEE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800344" cy="521644"/>
            </a:xfrm>
            <a:prstGeom prst="rect">
              <a:avLst/>
            </a:prstGeom>
          </p:spPr>
          <p:txBody>
            <a:bodyPr anchor="ctr" rtlCol="false" tIns="49569" lIns="49569" bIns="49569" rIns="49569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3169233" y="741798"/>
            <a:ext cx="1656056" cy="1656056"/>
          </a:xfrm>
          <a:custGeom>
            <a:avLst/>
            <a:gdLst/>
            <a:ahLst/>
            <a:cxnLst/>
            <a:rect r="r" b="b" t="t" l="l"/>
            <a:pathLst>
              <a:path h="1656056" w="1656056">
                <a:moveTo>
                  <a:pt x="0" y="0"/>
                </a:moveTo>
                <a:lnTo>
                  <a:pt x="1656057" y="0"/>
                </a:lnTo>
                <a:lnTo>
                  <a:pt x="1656057" y="1656057"/>
                </a:lnTo>
                <a:lnTo>
                  <a:pt x="0" y="1656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412750" y="2761029"/>
            <a:ext cx="1026230" cy="313806"/>
          </a:xfrm>
          <a:custGeom>
            <a:avLst/>
            <a:gdLst/>
            <a:ahLst/>
            <a:cxnLst/>
            <a:rect r="r" b="b" t="t" l="l"/>
            <a:pathLst>
              <a:path h="313806" w="1026230">
                <a:moveTo>
                  <a:pt x="0" y="0"/>
                </a:moveTo>
                <a:lnTo>
                  <a:pt x="1026230" y="0"/>
                </a:lnTo>
                <a:lnTo>
                  <a:pt x="1026230" y="313806"/>
                </a:lnTo>
                <a:lnTo>
                  <a:pt x="0" y="3138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303346" y="876526"/>
            <a:ext cx="1544068" cy="19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  <a:spcBef>
                <a:spcPct val="0"/>
              </a:spcBef>
            </a:pPr>
            <a:r>
              <a:rPr lang="en-US" sz="1170">
                <a:solidFill>
                  <a:srgbClr val="AF7081"/>
                </a:solidFill>
                <a:latin typeface="Sniglet"/>
                <a:ea typeface="Sniglet"/>
                <a:cs typeface="Sniglet"/>
                <a:sym typeface="Sniglet"/>
              </a:rPr>
              <a:t>  </a:t>
            </a:r>
            <a:r>
              <a:rPr lang="en-US" sz="1170">
                <a:solidFill>
                  <a:srgbClr val="AF7081"/>
                </a:solidFill>
                <a:latin typeface="Sniglet"/>
                <a:ea typeface="Sniglet"/>
                <a:cs typeface="Sniglet"/>
                <a:sym typeface="Sniglet"/>
              </a:rPr>
              <a:t>1.  Molecular Formula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03346" y="2248192"/>
            <a:ext cx="2350829" cy="19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  <a:spcBef>
                <a:spcPct val="0"/>
              </a:spcBef>
            </a:pPr>
            <a:r>
              <a:rPr lang="en-US" sz="1170">
                <a:solidFill>
                  <a:srgbClr val="AF7081"/>
                </a:solidFill>
                <a:latin typeface="Sniglet"/>
                <a:ea typeface="Sniglet"/>
                <a:cs typeface="Sniglet"/>
                <a:sym typeface="Sniglet"/>
              </a:rPr>
              <a:t>  3</a:t>
            </a:r>
            <a:r>
              <a:rPr lang="en-US" sz="1170">
                <a:solidFill>
                  <a:srgbClr val="AF7081"/>
                </a:solidFill>
                <a:latin typeface="Sniglet"/>
                <a:ea typeface="Sniglet"/>
                <a:cs typeface="Sniglet"/>
                <a:sym typeface="Sniglet"/>
              </a:rPr>
              <a:t>.  Condensed Structural Formula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811469" y="2248192"/>
            <a:ext cx="2228792" cy="19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  <a:spcBef>
                <a:spcPct val="0"/>
              </a:spcBef>
            </a:pPr>
            <a:r>
              <a:rPr lang="en-US" sz="1170">
                <a:solidFill>
                  <a:srgbClr val="AF7081"/>
                </a:solidFill>
                <a:latin typeface="Sniglet"/>
                <a:ea typeface="Sniglet"/>
                <a:cs typeface="Sniglet"/>
                <a:sym typeface="Sniglet"/>
              </a:rPr>
              <a:t>  4</a:t>
            </a:r>
            <a:r>
              <a:rPr lang="en-US" sz="1170">
                <a:solidFill>
                  <a:srgbClr val="AF7081"/>
                </a:solidFill>
                <a:latin typeface="Sniglet"/>
                <a:ea typeface="Sniglet"/>
                <a:cs typeface="Sniglet"/>
                <a:sym typeface="Sniglet"/>
              </a:rPr>
              <a:t>.  Bond-Line Formula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2959" y="34183"/>
            <a:ext cx="338381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PROPANE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03346" y="1300573"/>
            <a:ext cx="236800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C₃H₈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11469" y="876526"/>
            <a:ext cx="1378446" cy="19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  <a:spcBef>
                <a:spcPct val="0"/>
              </a:spcBef>
            </a:pPr>
            <a:r>
              <a:rPr lang="en-US" sz="1170">
                <a:solidFill>
                  <a:srgbClr val="AF7081"/>
                </a:solidFill>
                <a:latin typeface="Sniglet"/>
                <a:ea typeface="Sniglet"/>
                <a:cs typeface="Sniglet"/>
                <a:sym typeface="Sniglet"/>
              </a:rPr>
              <a:t>  2</a:t>
            </a:r>
            <a:r>
              <a:rPr lang="en-US" sz="1170">
                <a:solidFill>
                  <a:srgbClr val="AF7081"/>
                </a:solidFill>
                <a:latin typeface="Sniglet"/>
                <a:ea typeface="Sniglet"/>
                <a:cs typeface="Sniglet"/>
                <a:sym typeface="Sniglet"/>
              </a:rPr>
              <a:t>.  Lewis Structure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06925" y="2746800"/>
            <a:ext cx="2368006" cy="31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CH₃CH₂CH₃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4879709" cy="2589725"/>
            <a:chOff x="0" y="0"/>
            <a:chExt cx="6506278" cy="34529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62114" cy="1620922"/>
              <a:chOff x="0" y="0"/>
              <a:chExt cx="1800344" cy="9228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73996"/>
              <a:ext cx="3162114" cy="899484"/>
              <a:chOff x="0" y="0"/>
              <a:chExt cx="1800344" cy="51211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23738"/>
              <a:ext cx="3162114" cy="899484"/>
              <a:chOff x="0" y="0"/>
              <a:chExt cx="1800344" cy="51211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44164" y="0"/>
              <a:ext cx="3162114" cy="1620922"/>
              <a:chOff x="0" y="0"/>
              <a:chExt cx="1800344" cy="9228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44164" y="273996"/>
              <a:ext cx="3162114" cy="899484"/>
              <a:chOff x="0" y="0"/>
              <a:chExt cx="1800344" cy="51211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344164" y="723738"/>
              <a:ext cx="3162114" cy="899484"/>
              <a:chOff x="0" y="0"/>
              <a:chExt cx="1800344" cy="51211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9745"/>
              <a:ext cx="3162114" cy="1620922"/>
              <a:chOff x="0" y="0"/>
              <a:chExt cx="1800344" cy="9228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103741"/>
              <a:ext cx="3162114" cy="899484"/>
              <a:chOff x="0" y="0"/>
              <a:chExt cx="1800344" cy="5121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2553483"/>
              <a:ext cx="3162114" cy="899484"/>
              <a:chOff x="0" y="0"/>
              <a:chExt cx="1800344" cy="5121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344164" y="1829745"/>
              <a:ext cx="3162114" cy="1620922"/>
              <a:chOff x="0" y="0"/>
              <a:chExt cx="1800344" cy="9228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344164" y="2103741"/>
              <a:ext cx="3162114" cy="899484"/>
              <a:chOff x="0" y="0"/>
              <a:chExt cx="1800344" cy="51211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344164" y="2553483"/>
              <a:ext cx="3162114" cy="899484"/>
              <a:chOff x="0" y="0"/>
              <a:chExt cx="1800344" cy="5121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9443"/>
              <a:ext cx="2058757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1.  Molecular Formula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44164" y="19443"/>
              <a:ext cx="183792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2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Lewis Structure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848330"/>
              <a:ext cx="313443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3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Condensed Structural Formula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44164" y="1848330"/>
              <a:ext cx="2971722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4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Bond-Line Formula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210577" y="724475"/>
            <a:ext cx="1690703" cy="1690703"/>
          </a:xfrm>
          <a:custGeom>
            <a:avLst/>
            <a:gdLst/>
            <a:ahLst/>
            <a:cxnLst/>
            <a:rect r="r" b="b" t="t" l="l"/>
            <a:pathLst>
              <a:path h="1690703" w="1690703">
                <a:moveTo>
                  <a:pt x="0" y="0"/>
                </a:moveTo>
                <a:lnTo>
                  <a:pt x="1690703" y="0"/>
                </a:lnTo>
                <a:lnTo>
                  <a:pt x="1690703" y="1690703"/>
                </a:lnTo>
                <a:lnTo>
                  <a:pt x="0" y="1690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385326" y="2775375"/>
            <a:ext cx="1156422" cy="378651"/>
          </a:xfrm>
          <a:custGeom>
            <a:avLst/>
            <a:gdLst/>
            <a:ahLst/>
            <a:cxnLst/>
            <a:rect r="r" b="b" t="t" l="l"/>
            <a:pathLst>
              <a:path h="378651" w="1156422">
                <a:moveTo>
                  <a:pt x="0" y="0"/>
                </a:moveTo>
                <a:lnTo>
                  <a:pt x="1156422" y="0"/>
                </a:lnTo>
                <a:lnTo>
                  <a:pt x="1156422" y="378651"/>
                </a:lnTo>
                <a:lnTo>
                  <a:pt x="0" y="3786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68199" y="34183"/>
            <a:ext cx="387900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02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ETHANOL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03346" y="1300573"/>
            <a:ext cx="236800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C₂H₆O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6925" y="2746800"/>
            <a:ext cx="2368006" cy="31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CH₃CH₂OH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4879709" cy="2589725"/>
            <a:chOff x="0" y="0"/>
            <a:chExt cx="6506278" cy="34529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62114" cy="1620922"/>
              <a:chOff x="0" y="0"/>
              <a:chExt cx="1800344" cy="9228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73996"/>
              <a:ext cx="3162114" cy="899484"/>
              <a:chOff x="0" y="0"/>
              <a:chExt cx="1800344" cy="51211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23738"/>
              <a:ext cx="3162114" cy="899484"/>
              <a:chOff x="0" y="0"/>
              <a:chExt cx="1800344" cy="51211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44164" y="0"/>
              <a:ext cx="3162114" cy="1620922"/>
              <a:chOff x="0" y="0"/>
              <a:chExt cx="1800344" cy="9228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44164" y="273996"/>
              <a:ext cx="3162114" cy="899484"/>
              <a:chOff x="0" y="0"/>
              <a:chExt cx="1800344" cy="51211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344164" y="723738"/>
              <a:ext cx="3162114" cy="899484"/>
              <a:chOff x="0" y="0"/>
              <a:chExt cx="1800344" cy="51211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9745"/>
              <a:ext cx="3162114" cy="1620922"/>
              <a:chOff x="0" y="0"/>
              <a:chExt cx="1800344" cy="9228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103741"/>
              <a:ext cx="3162114" cy="899484"/>
              <a:chOff x="0" y="0"/>
              <a:chExt cx="1800344" cy="5121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2553483"/>
              <a:ext cx="3162114" cy="899484"/>
              <a:chOff x="0" y="0"/>
              <a:chExt cx="1800344" cy="5121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344164" y="1829745"/>
              <a:ext cx="3162114" cy="1620922"/>
              <a:chOff x="0" y="0"/>
              <a:chExt cx="1800344" cy="9228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344164" y="2103741"/>
              <a:ext cx="3162114" cy="899484"/>
              <a:chOff x="0" y="0"/>
              <a:chExt cx="1800344" cy="51211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344164" y="2553483"/>
              <a:ext cx="3162114" cy="899484"/>
              <a:chOff x="0" y="0"/>
              <a:chExt cx="1800344" cy="5121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9443"/>
              <a:ext cx="2058757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1.  Molecular Formula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44164" y="19443"/>
              <a:ext cx="183792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2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Lewis Structure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848330"/>
              <a:ext cx="313443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3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Condensed Structural Formula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44164" y="1848330"/>
              <a:ext cx="2971722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4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Bond-Line Formula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148983" y="730249"/>
            <a:ext cx="1679154" cy="1679154"/>
          </a:xfrm>
          <a:custGeom>
            <a:avLst/>
            <a:gdLst/>
            <a:ahLst/>
            <a:cxnLst/>
            <a:rect r="r" b="b" t="t" l="l"/>
            <a:pathLst>
              <a:path h="1679154" w="1679154">
                <a:moveTo>
                  <a:pt x="0" y="0"/>
                </a:moveTo>
                <a:lnTo>
                  <a:pt x="1679154" y="0"/>
                </a:lnTo>
                <a:lnTo>
                  <a:pt x="1679154" y="1679155"/>
                </a:lnTo>
                <a:lnTo>
                  <a:pt x="0" y="1679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433488" y="2577640"/>
            <a:ext cx="1110144" cy="761504"/>
          </a:xfrm>
          <a:custGeom>
            <a:avLst/>
            <a:gdLst/>
            <a:ahLst/>
            <a:cxnLst/>
            <a:rect r="r" b="b" t="t" l="l"/>
            <a:pathLst>
              <a:path h="761504" w="1110144">
                <a:moveTo>
                  <a:pt x="0" y="0"/>
                </a:moveTo>
                <a:lnTo>
                  <a:pt x="1110144" y="0"/>
                </a:lnTo>
                <a:lnTo>
                  <a:pt x="1110144" y="761504"/>
                </a:lnTo>
                <a:lnTo>
                  <a:pt x="0" y="7615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59202" y="34183"/>
            <a:ext cx="405895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03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ACETONE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2959" y="509635"/>
            <a:ext cx="5322668" cy="19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(propan-2-one)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3346" y="1300573"/>
            <a:ext cx="236800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C₃H₆O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06925" y="2746800"/>
            <a:ext cx="2368006" cy="31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CH₃C(=O)CH₃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4879709" cy="2589725"/>
            <a:chOff x="0" y="0"/>
            <a:chExt cx="6506278" cy="34529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62114" cy="1620922"/>
              <a:chOff x="0" y="0"/>
              <a:chExt cx="1800344" cy="9228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73996"/>
              <a:ext cx="3162114" cy="899484"/>
              <a:chOff x="0" y="0"/>
              <a:chExt cx="1800344" cy="51211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23738"/>
              <a:ext cx="3162114" cy="899484"/>
              <a:chOff x="0" y="0"/>
              <a:chExt cx="1800344" cy="51211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44164" y="0"/>
              <a:ext cx="3162114" cy="1620922"/>
              <a:chOff x="0" y="0"/>
              <a:chExt cx="1800344" cy="9228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44164" y="273996"/>
              <a:ext cx="3162114" cy="899484"/>
              <a:chOff x="0" y="0"/>
              <a:chExt cx="1800344" cy="51211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344164" y="723738"/>
              <a:ext cx="3162114" cy="899484"/>
              <a:chOff x="0" y="0"/>
              <a:chExt cx="1800344" cy="51211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9745"/>
              <a:ext cx="3162114" cy="1620922"/>
              <a:chOff x="0" y="0"/>
              <a:chExt cx="1800344" cy="9228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103741"/>
              <a:ext cx="3162114" cy="899484"/>
              <a:chOff x="0" y="0"/>
              <a:chExt cx="1800344" cy="5121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2553483"/>
              <a:ext cx="3162114" cy="899484"/>
              <a:chOff x="0" y="0"/>
              <a:chExt cx="1800344" cy="5121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344164" y="1829745"/>
              <a:ext cx="3162114" cy="1620922"/>
              <a:chOff x="0" y="0"/>
              <a:chExt cx="1800344" cy="9228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344164" y="2103741"/>
              <a:ext cx="3162114" cy="899484"/>
              <a:chOff x="0" y="0"/>
              <a:chExt cx="1800344" cy="51211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344164" y="2553483"/>
              <a:ext cx="3162114" cy="899484"/>
              <a:chOff x="0" y="0"/>
              <a:chExt cx="1800344" cy="5121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9443"/>
              <a:ext cx="2058757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1.  Molecular Formula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44164" y="19443"/>
              <a:ext cx="183792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2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Lewis Structure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848330"/>
              <a:ext cx="313443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3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Condensed Structural Formula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44164" y="1848330"/>
              <a:ext cx="2971722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4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Bond-Line Formula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491638" y="2640630"/>
            <a:ext cx="933376" cy="685577"/>
          </a:xfrm>
          <a:custGeom>
            <a:avLst/>
            <a:gdLst/>
            <a:ahLst/>
            <a:cxnLst/>
            <a:rect r="r" b="b" t="t" l="l"/>
            <a:pathLst>
              <a:path h="685577" w="933376">
                <a:moveTo>
                  <a:pt x="0" y="0"/>
                </a:moveTo>
                <a:lnTo>
                  <a:pt x="933376" y="0"/>
                </a:lnTo>
                <a:lnTo>
                  <a:pt x="933376" y="685577"/>
                </a:lnTo>
                <a:lnTo>
                  <a:pt x="0" y="685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222659" y="756178"/>
            <a:ext cx="1627298" cy="1627298"/>
          </a:xfrm>
          <a:custGeom>
            <a:avLst/>
            <a:gdLst/>
            <a:ahLst/>
            <a:cxnLst/>
            <a:rect r="r" b="b" t="t" l="l"/>
            <a:pathLst>
              <a:path h="1627298" w="1627298">
                <a:moveTo>
                  <a:pt x="0" y="0"/>
                </a:moveTo>
                <a:lnTo>
                  <a:pt x="1627298" y="0"/>
                </a:lnTo>
                <a:lnTo>
                  <a:pt x="1627298" y="1627298"/>
                </a:lnTo>
                <a:lnTo>
                  <a:pt x="0" y="1627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51625" y="34183"/>
            <a:ext cx="421048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04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ACETIC ACID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2959" y="509635"/>
            <a:ext cx="5322668" cy="19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(ethanoic acid)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3346" y="1300573"/>
            <a:ext cx="236800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C₂H₄O₂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06925" y="2746800"/>
            <a:ext cx="2368006" cy="31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CH₃C(=O)OH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4879709" cy="2589725"/>
            <a:chOff x="0" y="0"/>
            <a:chExt cx="6506278" cy="34529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62114" cy="1620922"/>
              <a:chOff x="0" y="0"/>
              <a:chExt cx="1800344" cy="9228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73996"/>
              <a:ext cx="3162114" cy="899484"/>
              <a:chOff x="0" y="0"/>
              <a:chExt cx="1800344" cy="51211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23738"/>
              <a:ext cx="3162114" cy="899484"/>
              <a:chOff x="0" y="0"/>
              <a:chExt cx="1800344" cy="51211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44164" y="0"/>
              <a:ext cx="3162114" cy="1620922"/>
              <a:chOff x="0" y="0"/>
              <a:chExt cx="1800344" cy="9228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44164" y="273996"/>
              <a:ext cx="3162114" cy="899484"/>
              <a:chOff x="0" y="0"/>
              <a:chExt cx="1800344" cy="51211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344164" y="723738"/>
              <a:ext cx="3162114" cy="899484"/>
              <a:chOff x="0" y="0"/>
              <a:chExt cx="1800344" cy="51211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9745"/>
              <a:ext cx="3162114" cy="1620922"/>
              <a:chOff x="0" y="0"/>
              <a:chExt cx="1800344" cy="9228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103741"/>
              <a:ext cx="3162114" cy="899484"/>
              <a:chOff x="0" y="0"/>
              <a:chExt cx="1800344" cy="5121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2553483"/>
              <a:ext cx="3162114" cy="899484"/>
              <a:chOff x="0" y="0"/>
              <a:chExt cx="1800344" cy="5121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344164" y="1829745"/>
              <a:ext cx="3162114" cy="1620922"/>
              <a:chOff x="0" y="0"/>
              <a:chExt cx="1800344" cy="9228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344164" y="2103741"/>
              <a:ext cx="3162114" cy="899484"/>
              <a:chOff x="0" y="0"/>
              <a:chExt cx="1800344" cy="51211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344164" y="2553483"/>
              <a:ext cx="3162114" cy="899484"/>
              <a:chOff x="0" y="0"/>
              <a:chExt cx="1800344" cy="5121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9443"/>
              <a:ext cx="2058757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1.  Molecular Formula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44164" y="19443"/>
              <a:ext cx="183792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2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Lewis Structure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848330"/>
              <a:ext cx="313443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3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Condensed Structural Formula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44164" y="1848330"/>
              <a:ext cx="2971722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4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Bond-Line Formula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046593" y="618233"/>
            <a:ext cx="1980176" cy="1980176"/>
          </a:xfrm>
          <a:custGeom>
            <a:avLst/>
            <a:gdLst/>
            <a:ahLst/>
            <a:cxnLst/>
            <a:rect r="r" b="b" t="t" l="l"/>
            <a:pathLst>
              <a:path h="1980176" w="1980176">
                <a:moveTo>
                  <a:pt x="0" y="0"/>
                </a:moveTo>
                <a:lnTo>
                  <a:pt x="1980176" y="0"/>
                </a:lnTo>
                <a:lnTo>
                  <a:pt x="1980176" y="1980177"/>
                </a:lnTo>
                <a:lnTo>
                  <a:pt x="0" y="1980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443543" y="2658825"/>
            <a:ext cx="1186275" cy="518215"/>
          </a:xfrm>
          <a:custGeom>
            <a:avLst/>
            <a:gdLst/>
            <a:ahLst/>
            <a:cxnLst/>
            <a:rect r="r" b="b" t="t" l="l"/>
            <a:pathLst>
              <a:path h="518215" w="1186275">
                <a:moveTo>
                  <a:pt x="0" y="0"/>
                </a:moveTo>
                <a:lnTo>
                  <a:pt x="1186275" y="0"/>
                </a:lnTo>
                <a:lnTo>
                  <a:pt x="1186275" y="518214"/>
                </a:lnTo>
                <a:lnTo>
                  <a:pt x="0" y="518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65155" y="34183"/>
            <a:ext cx="393989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05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ETHYL ACETATE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2959" y="509635"/>
            <a:ext cx="5322668" cy="19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(ethyl ethanoate)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3346" y="1300573"/>
            <a:ext cx="236800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C₄H₈O₂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06925" y="2746800"/>
            <a:ext cx="2368006" cy="31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CH₃C(=O)OCH₂CH₃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4879709" cy="2589725"/>
            <a:chOff x="0" y="0"/>
            <a:chExt cx="6506278" cy="34529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62114" cy="1620922"/>
              <a:chOff x="0" y="0"/>
              <a:chExt cx="1800344" cy="9228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73996"/>
              <a:ext cx="3162114" cy="899484"/>
              <a:chOff x="0" y="0"/>
              <a:chExt cx="1800344" cy="51211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23738"/>
              <a:ext cx="3162114" cy="899484"/>
              <a:chOff x="0" y="0"/>
              <a:chExt cx="1800344" cy="51211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44164" y="0"/>
              <a:ext cx="3162114" cy="1620922"/>
              <a:chOff x="0" y="0"/>
              <a:chExt cx="1800344" cy="9228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44164" y="273996"/>
              <a:ext cx="3162114" cy="899484"/>
              <a:chOff x="0" y="0"/>
              <a:chExt cx="1800344" cy="51211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344164" y="723738"/>
              <a:ext cx="3162114" cy="899484"/>
              <a:chOff x="0" y="0"/>
              <a:chExt cx="1800344" cy="51211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9745"/>
              <a:ext cx="3162114" cy="1620922"/>
              <a:chOff x="0" y="0"/>
              <a:chExt cx="1800344" cy="9228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103741"/>
              <a:ext cx="3162114" cy="899484"/>
              <a:chOff x="0" y="0"/>
              <a:chExt cx="1800344" cy="5121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2553483"/>
              <a:ext cx="3162114" cy="899484"/>
              <a:chOff x="0" y="0"/>
              <a:chExt cx="1800344" cy="5121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344164" y="1829745"/>
              <a:ext cx="3162114" cy="1620922"/>
              <a:chOff x="0" y="0"/>
              <a:chExt cx="1800344" cy="9228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344164" y="2103741"/>
              <a:ext cx="3162114" cy="899484"/>
              <a:chOff x="0" y="0"/>
              <a:chExt cx="1800344" cy="51211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344164" y="2553483"/>
              <a:ext cx="3162114" cy="899484"/>
              <a:chOff x="0" y="0"/>
              <a:chExt cx="1800344" cy="5121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9443"/>
              <a:ext cx="2058757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1.  Molecular Formula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44164" y="19443"/>
              <a:ext cx="183792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2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Lewis Structure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848330"/>
              <a:ext cx="313443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3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Condensed Structural Formula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44164" y="1848330"/>
              <a:ext cx="2971722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4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Bond-Line Formula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533948" y="1057469"/>
            <a:ext cx="1024715" cy="1024715"/>
          </a:xfrm>
          <a:custGeom>
            <a:avLst/>
            <a:gdLst/>
            <a:ahLst/>
            <a:cxnLst/>
            <a:rect r="r" b="b" t="t" l="l"/>
            <a:pathLst>
              <a:path h="1024715" w="1024715">
                <a:moveTo>
                  <a:pt x="0" y="0"/>
                </a:moveTo>
                <a:lnTo>
                  <a:pt x="1024714" y="0"/>
                </a:lnTo>
                <a:lnTo>
                  <a:pt x="1024714" y="1024715"/>
                </a:lnTo>
                <a:lnTo>
                  <a:pt x="0" y="1024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753208" y="2630992"/>
            <a:ext cx="586194" cy="671038"/>
          </a:xfrm>
          <a:custGeom>
            <a:avLst/>
            <a:gdLst/>
            <a:ahLst/>
            <a:cxnLst/>
            <a:rect r="r" b="b" t="t" l="l"/>
            <a:pathLst>
              <a:path h="671038" w="586194">
                <a:moveTo>
                  <a:pt x="0" y="0"/>
                </a:moveTo>
                <a:lnTo>
                  <a:pt x="586194" y="0"/>
                </a:lnTo>
                <a:lnTo>
                  <a:pt x="586194" y="671038"/>
                </a:lnTo>
                <a:lnTo>
                  <a:pt x="0" y="671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61164" y="34183"/>
            <a:ext cx="401971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CYCLOHEXANE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03346" y="1300573"/>
            <a:ext cx="236800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C₆H₁₂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6925" y="2746800"/>
            <a:ext cx="2368006" cy="31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cyclo-</a:t>
            </a:r>
            <a:r>
              <a:rPr lang="en-US" sz="19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(CH₂)₆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4879709" cy="2589725"/>
            <a:chOff x="0" y="0"/>
            <a:chExt cx="6506278" cy="34529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62114" cy="1620922"/>
              <a:chOff x="0" y="0"/>
              <a:chExt cx="1800344" cy="9228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73996"/>
              <a:ext cx="3162114" cy="899484"/>
              <a:chOff x="0" y="0"/>
              <a:chExt cx="1800344" cy="51211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23738"/>
              <a:ext cx="3162114" cy="899484"/>
              <a:chOff x="0" y="0"/>
              <a:chExt cx="1800344" cy="51211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44164" y="0"/>
              <a:ext cx="3162114" cy="1620922"/>
              <a:chOff x="0" y="0"/>
              <a:chExt cx="1800344" cy="9228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44164" y="273996"/>
              <a:ext cx="3162114" cy="899484"/>
              <a:chOff x="0" y="0"/>
              <a:chExt cx="1800344" cy="51211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344164" y="723738"/>
              <a:ext cx="3162114" cy="899484"/>
              <a:chOff x="0" y="0"/>
              <a:chExt cx="1800344" cy="51211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9745"/>
              <a:ext cx="3162114" cy="1620922"/>
              <a:chOff x="0" y="0"/>
              <a:chExt cx="1800344" cy="9228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103741"/>
              <a:ext cx="3162114" cy="899484"/>
              <a:chOff x="0" y="0"/>
              <a:chExt cx="1800344" cy="5121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2553483"/>
              <a:ext cx="3162114" cy="899484"/>
              <a:chOff x="0" y="0"/>
              <a:chExt cx="1800344" cy="5121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344164" y="1829745"/>
              <a:ext cx="3162114" cy="1620922"/>
              <a:chOff x="0" y="0"/>
              <a:chExt cx="1800344" cy="9228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344164" y="2103741"/>
              <a:ext cx="3162114" cy="899484"/>
              <a:chOff x="0" y="0"/>
              <a:chExt cx="1800344" cy="51211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344164" y="2553483"/>
              <a:ext cx="3162114" cy="899484"/>
              <a:chOff x="0" y="0"/>
              <a:chExt cx="1800344" cy="5121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9443"/>
              <a:ext cx="2058757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1.  Molecular Formula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44164" y="19443"/>
              <a:ext cx="183792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2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Lewis Structure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848330"/>
              <a:ext cx="313443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3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Condensed Structural Formula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44164" y="1848330"/>
              <a:ext cx="2971722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4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Bond-Line Formula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503150" y="1071570"/>
            <a:ext cx="996512" cy="996512"/>
          </a:xfrm>
          <a:custGeom>
            <a:avLst/>
            <a:gdLst/>
            <a:ahLst/>
            <a:cxnLst/>
            <a:rect r="r" b="b" t="t" l="l"/>
            <a:pathLst>
              <a:path h="996512" w="996512">
                <a:moveTo>
                  <a:pt x="0" y="0"/>
                </a:moveTo>
                <a:lnTo>
                  <a:pt x="996513" y="0"/>
                </a:lnTo>
                <a:lnTo>
                  <a:pt x="996513" y="996513"/>
                </a:lnTo>
                <a:lnTo>
                  <a:pt x="0" y="996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-10800000">
            <a:off x="3715771" y="2525283"/>
            <a:ext cx="468010" cy="819018"/>
          </a:xfrm>
          <a:custGeom>
            <a:avLst/>
            <a:gdLst/>
            <a:ahLst/>
            <a:cxnLst/>
            <a:rect r="r" b="b" t="t" l="l"/>
            <a:pathLst>
              <a:path h="819018" w="468010">
                <a:moveTo>
                  <a:pt x="0" y="0"/>
                </a:moveTo>
                <a:lnTo>
                  <a:pt x="468010" y="0"/>
                </a:lnTo>
                <a:lnTo>
                  <a:pt x="468010" y="819018"/>
                </a:lnTo>
                <a:lnTo>
                  <a:pt x="0" y="819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73882" y="34183"/>
            <a:ext cx="376535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07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CYCLOHEXANONE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03346" y="1300573"/>
            <a:ext cx="236800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C₆H₁₀O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6925" y="2746800"/>
            <a:ext cx="2368006" cy="31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cyclo-</a:t>
            </a:r>
            <a:r>
              <a:rPr lang="en-US" sz="19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(CH₂)₅C=O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4879709" cy="2589725"/>
            <a:chOff x="0" y="0"/>
            <a:chExt cx="6506278" cy="34529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62114" cy="1620922"/>
              <a:chOff x="0" y="0"/>
              <a:chExt cx="1800344" cy="9228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73996"/>
              <a:ext cx="3162114" cy="899484"/>
              <a:chOff x="0" y="0"/>
              <a:chExt cx="1800344" cy="51211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23738"/>
              <a:ext cx="3162114" cy="899484"/>
              <a:chOff x="0" y="0"/>
              <a:chExt cx="1800344" cy="51211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44164" y="0"/>
              <a:ext cx="3162114" cy="1620922"/>
              <a:chOff x="0" y="0"/>
              <a:chExt cx="1800344" cy="9228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44164" y="273996"/>
              <a:ext cx="3162114" cy="899484"/>
              <a:chOff x="0" y="0"/>
              <a:chExt cx="1800344" cy="51211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344164" y="723738"/>
              <a:ext cx="3162114" cy="899484"/>
              <a:chOff x="0" y="0"/>
              <a:chExt cx="1800344" cy="51211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9745"/>
              <a:ext cx="3162114" cy="1620922"/>
              <a:chOff x="0" y="0"/>
              <a:chExt cx="1800344" cy="9228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103741"/>
              <a:ext cx="3162114" cy="899484"/>
              <a:chOff x="0" y="0"/>
              <a:chExt cx="1800344" cy="5121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2553483"/>
              <a:ext cx="3162114" cy="899484"/>
              <a:chOff x="0" y="0"/>
              <a:chExt cx="1800344" cy="5121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344164" y="1829745"/>
              <a:ext cx="3162114" cy="1620922"/>
              <a:chOff x="0" y="0"/>
              <a:chExt cx="1800344" cy="9228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344164" y="2103741"/>
              <a:ext cx="3162114" cy="899484"/>
              <a:chOff x="0" y="0"/>
              <a:chExt cx="1800344" cy="51211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344164" y="2553483"/>
              <a:ext cx="3162114" cy="899484"/>
              <a:chOff x="0" y="0"/>
              <a:chExt cx="1800344" cy="5121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9443"/>
              <a:ext cx="2058757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1.  Molecular Formula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44164" y="19443"/>
              <a:ext cx="183792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2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Lewis Structure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848330"/>
              <a:ext cx="313443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3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Condensed Structural Formula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44164" y="1848330"/>
              <a:ext cx="2971722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4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Bond-Line Formula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226922" y="2614388"/>
            <a:ext cx="1530976" cy="668283"/>
          </a:xfrm>
          <a:custGeom>
            <a:avLst/>
            <a:gdLst/>
            <a:ahLst/>
            <a:cxnLst/>
            <a:rect r="r" b="b" t="t" l="l"/>
            <a:pathLst>
              <a:path h="668283" w="1530976">
                <a:moveTo>
                  <a:pt x="0" y="0"/>
                </a:moveTo>
                <a:lnTo>
                  <a:pt x="1530976" y="0"/>
                </a:lnTo>
                <a:lnTo>
                  <a:pt x="1530976" y="668283"/>
                </a:lnTo>
                <a:lnTo>
                  <a:pt x="0" y="668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107359" y="684776"/>
            <a:ext cx="1770102" cy="1770102"/>
          </a:xfrm>
          <a:custGeom>
            <a:avLst/>
            <a:gdLst/>
            <a:ahLst/>
            <a:cxnLst/>
            <a:rect r="r" b="b" t="t" l="l"/>
            <a:pathLst>
              <a:path h="1770102" w="1770102">
                <a:moveTo>
                  <a:pt x="0" y="0"/>
                </a:moveTo>
                <a:lnTo>
                  <a:pt x="1770102" y="0"/>
                </a:lnTo>
                <a:lnTo>
                  <a:pt x="1770102" y="1770102"/>
                </a:lnTo>
                <a:lnTo>
                  <a:pt x="0" y="17701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52775" y="34183"/>
            <a:ext cx="418748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08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ACETAMINOPHEN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2959" y="509635"/>
            <a:ext cx="5322668" cy="19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(paracetamol)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3346" y="1300573"/>
            <a:ext cx="236800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C₈H₉NO₂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03346" y="2708789"/>
            <a:ext cx="2368006" cy="45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CH₃C(=O)NH-C₆H₄-OH</a:t>
            </a:r>
          </a:p>
          <a:p>
            <a:pPr algn="ctr">
              <a:lnSpc>
                <a:spcPts val="800"/>
              </a:lnSpc>
            </a:pPr>
            <a:r>
              <a:rPr lang="en-US" sz="16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(para, 1,4)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4879709" cy="2589725"/>
            <a:chOff x="0" y="0"/>
            <a:chExt cx="6506278" cy="34529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62114" cy="1620922"/>
              <a:chOff x="0" y="0"/>
              <a:chExt cx="1800344" cy="9228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73996"/>
              <a:ext cx="3162114" cy="899484"/>
              <a:chOff x="0" y="0"/>
              <a:chExt cx="1800344" cy="51211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23738"/>
              <a:ext cx="3162114" cy="899484"/>
              <a:chOff x="0" y="0"/>
              <a:chExt cx="1800344" cy="51211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44164" y="0"/>
              <a:ext cx="3162114" cy="1620922"/>
              <a:chOff x="0" y="0"/>
              <a:chExt cx="1800344" cy="9228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44164" y="273996"/>
              <a:ext cx="3162114" cy="899484"/>
              <a:chOff x="0" y="0"/>
              <a:chExt cx="1800344" cy="51211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344164" y="723738"/>
              <a:ext cx="3162114" cy="899484"/>
              <a:chOff x="0" y="0"/>
              <a:chExt cx="1800344" cy="51211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9745"/>
              <a:ext cx="3162114" cy="1620922"/>
              <a:chOff x="0" y="0"/>
              <a:chExt cx="1800344" cy="9228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103741"/>
              <a:ext cx="3162114" cy="899484"/>
              <a:chOff x="0" y="0"/>
              <a:chExt cx="1800344" cy="5121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2553483"/>
              <a:ext cx="3162114" cy="899484"/>
              <a:chOff x="0" y="0"/>
              <a:chExt cx="1800344" cy="5121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344164" y="1829745"/>
              <a:ext cx="3162114" cy="1620922"/>
              <a:chOff x="0" y="0"/>
              <a:chExt cx="1800344" cy="9228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344164" y="2103741"/>
              <a:ext cx="3162114" cy="899484"/>
              <a:chOff x="0" y="0"/>
              <a:chExt cx="1800344" cy="51211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344164" y="2553483"/>
              <a:ext cx="3162114" cy="899484"/>
              <a:chOff x="0" y="0"/>
              <a:chExt cx="1800344" cy="5121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9443"/>
              <a:ext cx="2058757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1.  Molecular Formula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44164" y="19443"/>
              <a:ext cx="183792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2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Lewis Structure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848330"/>
              <a:ext cx="313443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3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Condensed Structural Formula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44164" y="1848330"/>
              <a:ext cx="2971722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4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Bond-Line Formula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456955" y="1005499"/>
            <a:ext cx="1128655" cy="1128655"/>
          </a:xfrm>
          <a:custGeom>
            <a:avLst/>
            <a:gdLst/>
            <a:ahLst/>
            <a:cxnLst/>
            <a:rect r="r" b="b" t="t" l="l"/>
            <a:pathLst>
              <a:path h="1128655" w="1128655">
                <a:moveTo>
                  <a:pt x="0" y="0"/>
                </a:moveTo>
                <a:lnTo>
                  <a:pt x="1128655" y="0"/>
                </a:lnTo>
                <a:lnTo>
                  <a:pt x="1128655" y="1128655"/>
                </a:lnTo>
                <a:lnTo>
                  <a:pt x="0" y="1128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510026" y="2572461"/>
            <a:ext cx="1022512" cy="752136"/>
          </a:xfrm>
          <a:custGeom>
            <a:avLst/>
            <a:gdLst/>
            <a:ahLst/>
            <a:cxnLst/>
            <a:rect r="r" b="b" t="t" l="l"/>
            <a:pathLst>
              <a:path h="752136" w="1022512">
                <a:moveTo>
                  <a:pt x="0" y="0"/>
                </a:moveTo>
                <a:lnTo>
                  <a:pt x="1022512" y="0"/>
                </a:lnTo>
                <a:lnTo>
                  <a:pt x="1022512" y="752136"/>
                </a:lnTo>
                <a:lnTo>
                  <a:pt x="0" y="75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54669" y="34183"/>
            <a:ext cx="414960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09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ASPIRIN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2959" y="509635"/>
            <a:ext cx="5322668" cy="19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(acetylsalicyclic acid)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3346" y="1300573"/>
            <a:ext cx="236800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C₉H₈O₄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03346" y="2708789"/>
            <a:ext cx="2368006" cy="45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CH₃C(=O)O-C₆H₄-COOH</a:t>
            </a:r>
          </a:p>
          <a:p>
            <a:pPr algn="ctr">
              <a:lnSpc>
                <a:spcPts val="800"/>
              </a:lnSpc>
            </a:pPr>
            <a:r>
              <a:rPr lang="en-US" sz="16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(ortho, 1,2)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A0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59" y="91333"/>
            <a:ext cx="5322668" cy="3657814"/>
            <a:chOff x="0" y="0"/>
            <a:chExt cx="3942717" cy="2709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42717" cy="2709492"/>
            </a:xfrm>
            <a:custGeom>
              <a:avLst/>
              <a:gdLst/>
              <a:ahLst/>
              <a:cxnLst/>
              <a:rect r="r" b="b" t="t" l="l"/>
              <a:pathLst>
                <a:path h="2709492" w="3942717">
                  <a:moveTo>
                    <a:pt x="11636" y="0"/>
                  </a:moveTo>
                  <a:lnTo>
                    <a:pt x="3931081" y="0"/>
                  </a:lnTo>
                  <a:cubicBezTo>
                    <a:pt x="3937507" y="0"/>
                    <a:pt x="3942717" y="5210"/>
                    <a:pt x="3942717" y="11636"/>
                  </a:cubicBezTo>
                  <a:lnTo>
                    <a:pt x="3942717" y="2697856"/>
                  </a:lnTo>
                  <a:cubicBezTo>
                    <a:pt x="3942717" y="2700942"/>
                    <a:pt x="3941491" y="2703902"/>
                    <a:pt x="3939309" y="2706084"/>
                  </a:cubicBezTo>
                  <a:cubicBezTo>
                    <a:pt x="3937127" y="2708266"/>
                    <a:pt x="3934167" y="2709492"/>
                    <a:pt x="3931081" y="2709492"/>
                  </a:cubicBezTo>
                  <a:lnTo>
                    <a:pt x="11636" y="2709492"/>
                  </a:lnTo>
                  <a:cubicBezTo>
                    <a:pt x="8550" y="2709492"/>
                    <a:pt x="5590" y="2708266"/>
                    <a:pt x="3408" y="2706084"/>
                  </a:cubicBezTo>
                  <a:cubicBezTo>
                    <a:pt x="1226" y="2703902"/>
                    <a:pt x="0" y="2700942"/>
                    <a:pt x="0" y="2697856"/>
                  </a:cubicBezTo>
                  <a:lnTo>
                    <a:pt x="0" y="11636"/>
                  </a:lnTo>
                  <a:cubicBezTo>
                    <a:pt x="0" y="8550"/>
                    <a:pt x="1226" y="5590"/>
                    <a:pt x="3408" y="3408"/>
                  </a:cubicBezTo>
                  <a:cubicBezTo>
                    <a:pt x="5590" y="1226"/>
                    <a:pt x="8550" y="0"/>
                    <a:pt x="11636" y="0"/>
                  </a:cubicBezTo>
                  <a:close/>
                </a:path>
              </a:pathLst>
            </a:custGeom>
            <a:solidFill>
              <a:srgbClr val="FADF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3942717" cy="2719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0461" y="3595930"/>
            <a:ext cx="4705479" cy="100711"/>
            <a:chOff x="0" y="0"/>
            <a:chExt cx="6273972" cy="13428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6273972" cy="143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0"/>
                </a:lnSpc>
                <a:spcBef>
                  <a:spcPct val="0"/>
                </a:spcBef>
              </a:pP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atom count</a:t>
              </a:r>
              <a:r>
                <a:rPr lang="en-US" sz="70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verified            valence checked            bond order checked            same connectivity confirmed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302544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13228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82519" y="0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3" y="0"/>
                  </a:lnTo>
                  <a:lnTo>
                    <a:pt x="142163" y="131500"/>
                  </a:lnTo>
                  <a:lnTo>
                    <a:pt x="0" y="13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122678" y="2781"/>
              <a:ext cx="142163" cy="131500"/>
            </a:xfrm>
            <a:custGeom>
              <a:avLst/>
              <a:gdLst/>
              <a:ahLst/>
              <a:cxnLst/>
              <a:rect r="r" b="b" t="t" l="l"/>
              <a:pathLst>
                <a:path h="131500" w="142163">
                  <a:moveTo>
                    <a:pt x="0" y="0"/>
                  </a:moveTo>
                  <a:lnTo>
                    <a:pt x="142162" y="0"/>
                  </a:lnTo>
                  <a:lnTo>
                    <a:pt x="142162" y="131501"/>
                  </a:lnTo>
                  <a:lnTo>
                    <a:pt x="0" y="131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524299" cy="528685"/>
            <a:chOff x="0" y="0"/>
            <a:chExt cx="388369" cy="3916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369" cy="391618"/>
            </a:xfrm>
            <a:custGeom>
              <a:avLst/>
              <a:gdLst/>
              <a:ahLst/>
              <a:cxnLst/>
              <a:rect r="r" b="b" t="t" l="l"/>
              <a:pathLst>
                <a:path h="391618" w="388369">
                  <a:moveTo>
                    <a:pt x="118130" y="0"/>
                  </a:moveTo>
                  <a:lnTo>
                    <a:pt x="270239" y="0"/>
                  </a:lnTo>
                  <a:cubicBezTo>
                    <a:pt x="301569" y="0"/>
                    <a:pt x="331616" y="12446"/>
                    <a:pt x="353770" y="34599"/>
                  </a:cubicBezTo>
                  <a:cubicBezTo>
                    <a:pt x="375924" y="56753"/>
                    <a:pt x="388369" y="86800"/>
                    <a:pt x="388369" y="118130"/>
                  </a:cubicBezTo>
                  <a:lnTo>
                    <a:pt x="388369" y="273489"/>
                  </a:lnTo>
                  <a:cubicBezTo>
                    <a:pt x="388369" y="304819"/>
                    <a:pt x="375924" y="334865"/>
                    <a:pt x="353770" y="357019"/>
                  </a:cubicBezTo>
                  <a:cubicBezTo>
                    <a:pt x="331616" y="379173"/>
                    <a:pt x="301569" y="391618"/>
                    <a:pt x="270239" y="391618"/>
                  </a:cubicBezTo>
                  <a:lnTo>
                    <a:pt x="118130" y="391618"/>
                  </a:lnTo>
                  <a:cubicBezTo>
                    <a:pt x="86800" y="391618"/>
                    <a:pt x="56753" y="379173"/>
                    <a:pt x="34599" y="357019"/>
                  </a:cubicBezTo>
                  <a:cubicBezTo>
                    <a:pt x="12446" y="334865"/>
                    <a:pt x="0" y="304819"/>
                    <a:pt x="0" y="273489"/>
                  </a:cubicBezTo>
                  <a:lnTo>
                    <a:pt x="0" y="118130"/>
                  </a:lnTo>
                  <a:cubicBezTo>
                    <a:pt x="0" y="86800"/>
                    <a:pt x="12446" y="56753"/>
                    <a:pt x="34599" y="34599"/>
                  </a:cubicBezTo>
                  <a:cubicBezTo>
                    <a:pt x="56753" y="12446"/>
                    <a:pt x="86800" y="0"/>
                    <a:pt x="118130" y="0"/>
                  </a:cubicBezTo>
                  <a:close/>
                </a:path>
              </a:pathLst>
            </a:custGeom>
            <a:solidFill>
              <a:srgbClr val="F8A0B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88369" cy="401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03346" y="866707"/>
            <a:ext cx="4879709" cy="2589725"/>
            <a:chOff x="0" y="0"/>
            <a:chExt cx="6506278" cy="34529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62114" cy="1620922"/>
              <a:chOff x="0" y="0"/>
              <a:chExt cx="1800344" cy="92286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73996"/>
              <a:ext cx="3162114" cy="899484"/>
              <a:chOff x="0" y="0"/>
              <a:chExt cx="1800344" cy="51211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723738"/>
              <a:ext cx="3162114" cy="899484"/>
              <a:chOff x="0" y="0"/>
              <a:chExt cx="1800344" cy="51211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44164" y="0"/>
              <a:ext cx="3162114" cy="1620922"/>
              <a:chOff x="0" y="0"/>
              <a:chExt cx="1800344" cy="92286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344164" y="273996"/>
              <a:ext cx="3162114" cy="899484"/>
              <a:chOff x="0" y="0"/>
              <a:chExt cx="1800344" cy="51211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344164" y="723738"/>
              <a:ext cx="3162114" cy="899484"/>
              <a:chOff x="0" y="0"/>
              <a:chExt cx="1800344" cy="51211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829745"/>
              <a:ext cx="3162114" cy="1620922"/>
              <a:chOff x="0" y="0"/>
              <a:chExt cx="1800344" cy="92286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103741"/>
              <a:ext cx="3162114" cy="899484"/>
              <a:chOff x="0" y="0"/>
              <a:chExt cx="1800344" cy="51211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2553483"/>
              <a:ext cx="3162114" cy="899484"/>
              <a:chOff x="0" y="0"/>
              <a:chExt cx="1800344" cy="51211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3344164" y="1829745"/>
              <a:ext cx="3162114" cy="1620922"/>
              <a:chOff x="0" y="0"/>
              <a:chExt cx="1800344" cy="9228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800344" cy="922869"/>
              </a:xfrm>
              <a:custGeom>
                <a:avLst/>
                <a:gdLst/>
                <a:ahLst/>
                <a:cxnLst/>
                <a:rect r="r" b="b" t="t" l="l"/>
                <a:pathLst>
                  <a:path h="92286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896753"/>
                    </a:lnTo>
                    <a:cubicBezTo>
                      <a:pt x="1800344" y="911177"/>
                      <a:pt x="1788651" y="922869"/>
                      <a:pt x="1774228" y="922869"/>
                    </a:cubicBezTo>
                    <a:lnTo>
                      <a:pt x="26116" y="922869"/>
                    </a:lnTo>
                    <a:cubicBezTo>
                      <a:pt x="11692" y="922869"/>
                      <a:pt x="0" y="911177"/>
                      <a:pt x="0" y="896753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CBD1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800344" cy="93239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344164" y="2103741"/>
              <a:ext cx="3162114" cy="899484"/>
              <a:chOff x="0" y="0"/>
              <a:chExt cx="1800344" cy="51211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0" y="0"/>
                    </a:moveTo>
                    <a:lnTo>
                      <a:pt x="1800344" y="0"/>
                    </a:lnTo>
                    <a:lnTo>
                      <a:pt x="1800344" y="512119"/>
                    </a:lnTo>
                    <a:lnTo>
                      <a:pt x="0" y="512119"/>
                    </a:ln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344164" y="2553483"/>
              <a:ext cx="3162114" cy="899484"/>
              <a:chOff x="0" y="0"/>
              <a:chExt cx="1800344" cy="51211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800344" cy="512119"/>
              </a:xfrm>
              <a:custGeom>
                <a:avLst/>
                <a:gdLst/>
                <a:ahLst/>
                <a:cxnLst/>
                <a:rect r="r" b="b" t="t" l="l"/>
                <a:pathLst>
                  <a:path h="512119" w="1800344">
                    <a:moveTo>
                      <a:pt x="26116" y="0"/>
                    </a:moveTo>
                    <a:lnTo>
                      <a:pt x="1774228" y="0"/>
                    </a:lnTo>
                    <a:cubicBezTo>
                      <a:pt x="1781154" y="0"/>
                      <a:pt x="1787797" y="2751"/>
                      <a:pt x="1792695" y="7649"/>
                    </a:cubicBezTo>
                    <a:cubicBezTo>
                      <a:pt x="1797592" y="12547"/>
                      <a:pt x="1800344" y="19189"/>
                      <a:pt x="1800344" y="26116"/>
                    </a:cubicBezTo>
                    <a:lnTo>
                      <a:pt x="1800344" y="486004"/>
                    </a:lnTo>
                    <a:cubicBezTo>
                      <a:pt x="1800344" y="500427"/>
                      <a:pt x="1788651" y="512119"/>
                      <a:pt x="1774228" y="512119"/>
                    </a:cubicBezTo>
                    <a:lnTo>
                      <a:pt x="26116" y="512119"/>
                    </a:lnTo>
                    <a:cubicBezTo>
                      <a:pt x="19189" y="512119"/>
                      <a:pt x="12547" y="509368"/>
                      <a:pt x="7649" y="504470"/>
                    </a:cubicBezTo>
                    <a:cubicBezTo>
                      <a:pt x="2751" y="499573"/>
                      <a:pt x="0" y="492930"/>
                      <a:pt x="0" y="486004"/>
                    </a:cubicBezTo>
                    <a:lnTo>
                      <a:pt x="0" y="26116"/>
                    </a:lnTo>
                    <a:cubicBezTo>
                      <a:pt x="0" y="11692"/>
                      <a:pt x="11692" y="0"/>
                      <a:pt x="26116" y="0"/>
                    </a:cubicBezTo>
                    <a:close/>
                  </a:path>
                </a:pathLst>
              </a:custGeom>
              <a:solidFill>
                <a:srgbClr val="F9EEE0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9525"/>
                <a:ext cx="1800344" cy="521644"/>
              </a:xfrm>
              <a:prstGeom prst="rect">
                <a:avLst/>
              </a:prstGeom>
            </p:spPr>
            <p:txBody>
              <a:bodyPr anchor="ctr" rtlCol="false" tIns="49569" lIns="49569" bIns="49569" rIns="49569"/>
              <a:lstStyle/>
              <a:p>
                <a:pPr algn="ctr">
                  <a:lnSpc>
                    <a:spcPts val="97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19443"/>
              <a:ext cx="2058757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1.  Molecular Formula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3344164" y="19443"/>
              <a:ext cx="183792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2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Lewis Structure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848330"/>
              <a:ext cx="3134438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3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Condensed Structural Formula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3344164" y="1848330"/>
              <a:ext cx="2971722" cy="25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39"/>
                </a:lnSpc>
                <a:spcBef>
                  <a:spcPct val="0"/>
                </a:spcBef>
              </a:pP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  4</a:t>
              </a:r>
              <a:r>
                <a:rPr lang="en-US" sz="1170">
                  <a:solidFill>
                    <a:srgbClr val="AF7081"/>
                  </a:solidFill>
                  <a:latin typeface="Sniglet"/>
                  <a:ea typeface="Sniglet"/>
                  <a:cs typeface="Sniglet"/>
                  <a:sym typeface="Sniglet"/>
                </a:rPr>
                <a:t>.  Bond-Line Formula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3495451" y="1065169"/>
            <a:ext cx="1009316" cy="1009316"/>
          </a:xfrm>
          <a:custGeom>
            <a:avLst/>
            <a:gdLst/>
            <a:ahLst/>
            <a:cxnLst/>
            <a:rect r="r" b="b" t="t" l="l"/>
            <a:pathLst>
              <a:path h="1009316" w="1009316">
                <a:moveTo>
                  <a:pt x="0" y="0"/>
                </a:moveTo>
                <a:lnTo>
                  <a:pt x="1009316" y="0"/>
                </a:lnTo>
                <a:lnTo>
                  <a:pt x="1009316" y="1009316"/>
                </a:lnTo>
                <a:lnTo>
                  <a:pt x="0" y="10093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495451" y="2531685"/>
            <a:ext cx="949268" cy="843282"/>
          </a:xfrm>
          <a:custGeom>
            <a:avLst/>
            <a:gdLst/>
            <a:ahLst/>
            <a:cxnLst/>
            <a:rect r="r" b="b" t="t" l="l"/>
            <a:pathLst>
              <a:path h="843282" w="949268">
                <a:moveTo>
                  <a:pt x="0" y="0"/>
                </a:moveTo>
                <a:lnTo>
                  <a:pt x="949268" y="0"/>
                </a:lnTo>
                <a:lnTo>
                  <a:pt x="949268" y="843281"/>
                </a:lnTo>
                <a:lnTo>
                  <a:pt x="0" y="8432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92959" y="34183"/>
            <a:ext cx="338381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9EEE0"/>
                </a:solidFill>
                <a:latin typeface="Dreaming Outloud Sans"/>
                <a:ea typeface="Dreaming Outloud Sans"/>
                <a:cs typeface="Dreaming Outloud Sans"/>
                <a:sym typeface="Dreaming Outloud Sans"/>
              </a:rPr>
              <a:t>10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59" y="88800"/>
            <a:ext cx="5322668" cy="52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D6708B"/>
                </a:solidFill>
                <a:latin typeface="Happy Font TH"/>
                <a:ea typeface="Happy Font TH"/>
                <a:cs typeface="Happy Font TH"/>
                <a:sym typeface="Happy Font TH"/>
              </a:rPr>
              <a:t>CAFFEINE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03346" y="1300573"/>
            <a:ext cx="2368006" cy="4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C₈H₁₀N₄O₂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03346" y="2795983"/>
            <a:ext cx="2368006" cy="45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D6708B"/>
                </a:solidFill>
                <a:latin typeface="Sniglet"/>
                <a:ea typeface="Sniglet"/>
                <a:cs typeface="Sniglet"/>
                <a:sym typeface="Sniglet"/>
              </a:rPr>
              <a:t>C₅H(CH₃)₃N₄O₂</a:t>
            </a:r>
          </a:p>
          <a:p>
            <a:pPr algn="ctr">
              <a:lnSpc>
                <a:spcPts val="8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DAHYRYExGkQ</dc:identifier>
  <dcterms:modified xsi:type="dcterms:W3CDTF">2011-08-01T06:04:30Z</dcterms:modified>
  <cp:revision>1</cp:revision>
  <dc:title>002_molecule_representation_portfolio_olivar</dc:title>
</cp:coreProperties>
</file>